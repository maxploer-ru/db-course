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4" r:id="rId5"/>
    <p:sldId id="276" r:id="rId6"/>
    <p:sldId id="273" r:id="rId7"/>
    <p:sldId id="270" r:id="rId8"/>
    <p:sldId id="259" r:id="rId9"/>
    <p:sldId id="277" r:id="rId10"/>
    <p:sldId id="266" r:id="rId11"/>
    <p:sldId id="267" r:id="rId12"/>
    <p:sldId id="275" r:id="rId13"/>
    <p:sldId id="281" r:id="rId14"/>
    <p:sldId id="284" r:id="rId15"/>
    <p:sldId id="283" r:id="rId16"/>
    <p:sldId id="282" r:id="rId17"/>
    <p:sldId id="271" r:id="rId18"/>
    <p:sldId id="274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ат Мазанов" initials="ММ" lastIdx="2" clrIdx="0">
    <p:extLst>
      <p:ext uri="{19B8F6BF-5375-455C-9EA6-DF929625EA0E}">
        <p15:presenceInfo xmlns:p15="http://schemas.microsoft.com/office/powerpoint/2012/main" userId="e1d6aafb7e96efb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6699" autoAdjust="0"/>
  </p:normalViewPr>
  <p:slideViewPr>
    <p:cSldViewPr snapToGrid="0">
      <p:cViewPr>
        <p:scale>
          <a:sx n="100" d="100"/>
          <a:sy n="100" d="100"/>
        </p:scale>
        <p:origin x="672" y="2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845159-BF37-41E7-BD66-EFC6E42A45B1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FEE8A1-D3C3-400C-95D9-C2E0610BF3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19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FEE8A1-D3C3-400C-95D9-C2E0610BF38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97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765223-133A-429A-8525-A20F730F3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6C170E-5D71-43A3-9A76-0066C461A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20E926-EDFF-4833-8448-404EA0A4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67B9-BCF7-41CD-99D1-78B10CE5AEA6}" type="datetime1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4E2731-3DA5-4AB0-B114-EFDD3185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8BF26A-B7C0-4891-8618-19504459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789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96BE0-9132-42F3-B4CC-4410C0BB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FE8F07-4DA7-4905-A45B-92406D413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C0F2A4-3243-4FF3-927E-74964DC6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61E5D-72E4-4428-9A60-C8738BE5FEFE}" type="datetime1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AF9132-4BA0-48C0-A9BF-EA22B601E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E019FE-ECE3-4A5A-BFB9-1BF0BCD7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7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2DF4C-58B5-4F2F-9354-ED40B664B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2FB692-CD9D-4500-B7CF-85C99D0F4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50491A-E408-4A8E-A099-64995FDCC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82B30-6AB2-4019-9CC2-4E2272FB3119}" type="datetime1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6E9AE0-646D-4EB8-9ABB-0247EAFF6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6C9497-3B84-47A9-9DE0-7F32C37C7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29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E8F1D-EBCB-47D4-923C-4EEC19D6E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E1406B-7505-44C1-8A20-7802FF799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1316EB-48B0-4C4B-969A-29AEA407B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F14D7D-3E6D-429F-AA9F-B8641474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A67A-FBCA-4FF1-8295-5EB9818894C2}" type="datetime1">
              <a:rPr lang="ru-RU" smtClean="0"/>
              <a:t>29.05.2026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5E25B4-36BE-4D7C-B51A-930707982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57CD13-8628-4564-BF84-C13D206A6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843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878D7-78F5-49F1-9C69-35744EB70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859903-4CD9-4765-9CC2-4836347D4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698E2FA-12BC-472A-BE5A-D7630C2C9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DE51222-4944-45A5-99DA-C5A4C908B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DE833C-49C2-4804-B631-D49DBB396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DAC888-34E7-48ED-A8A3-2373C797A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6DF69-8C49-40D2-A5D9-2B10873BBBCB}" type="datetime1">
              <a:rPr lang="ru-RU" smtClean="0"/>
              <a:t>29.05.2026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8599746-5782-4E98-81BD-9DB3BA77D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188C986-6859-4C68-811A-2A5A701A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49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124D9-DA99-4F9C-AA46-46572564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70E77BB-7269-423E-8A88-D8D60E351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384F5-F0CC-46A2-90DB-919821E4A6C1}" type="datetime1">
              <a:rPr lang="ru-RU" smtClean="0"/>
              <a:t>29.05.2026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0C518F-BD0D-46AF-887F-7E69D5FC6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E66F663-CF25-4F8E-A494-08E5F4925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819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B5EDC45-9E54-42D0-9D09-E5961C3A7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46E2E-AA64-476F-818D-E00825160F5F}" type="datetime1">
              <a:rPr lang="ru-RU" smtClean="0"/>
              <a:t>29.05.2026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BE5F135-AD73-456A-B8BF-0F539C353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290CB0-E7C2-40FC-9FA3-0DD2BF1C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856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F8B3D9-753F-4E4C-B2F4-7BF5EBA6A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A5065C-8B5D-48D4-8DD5-BDB02A818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FF7142-9C79-4868-8267-6475C5127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FE0148-ABD6-49A7-82E4-2F744650E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63162-C794-43D2-A327-13A92BD15216}" type="datetime1">
              <a:rPr lang="ru-RU" smtClean="0"/>
              <a:t>29.05.2026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78F0F9-A837-4CCD-8A95-F737FD2F5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9F5123-0EFE-47D7-8CD6-114ABE5F0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095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7BC6B-2934-4E59-9811-66D367AAF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A02E2E-0732-4775-B2B6-437B755AF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586FD3-2BF6-4EFA-9DBD-938DA80A5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56D0AA-F504-4F91-ADF2-36D52E6F4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70E2-3ADF-42A8-81F7-5D768B577251}" type="datetime1">
              <a:rPr lang="ru-RU" smtClean="0"/>
              <a:t>29.05.2026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1D3983-4AE5-4538-BABF-3B0CE6D71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2EAB81-7B1F-46A3-9094-36107032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725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63D61-DC20-45AE-8BE0-B2FC43A67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E2A87F-39CF-46C3-83F1-5F7C42DC2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35BC7F-B92C-4B24-9110-BFBA0E66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933-8822-4E70-B62D-A16325AA901B}" type="datetime1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075A5D-3014-47BB-A65B-A557E683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8AAC4D-A4E7-4AD3-93BC-39172532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404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3EB86CF-6F5E-4BBC-92DD-D1EC43BCA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AED54C-F994-4E82-A478-612E1BED9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B80BF8-FC2B-43CF-9622-76C228E56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6DFE-2EB9-4940-8435-5ECDB41A011E}" type="datetime1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110F9-C8EC-45CB-958D-9D73BCBD1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0777DC-D107-43DF-A83C-E1FE14124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44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F7EA4-420F-4F41-B9A2-20A9D068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D52E94-8D47-427A-B5C6-584CCBCB9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2EB481-FAD3-4B38-BAFA-E7EB780AC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6836C-10AF-4470-87A3-D94275E2A995}" type="datetime1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9A936B-00DE-49B4-B294-21BCE2CC9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AA17DA-CCB8-47F9-B238-D59CF0442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02C2A-A399-46CE-AD20-A4DA06909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868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1718D-8BDF-4500-8321-398002202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171" y="1637230"/>
            <a:ext cx="11117655" cy="2929492"/>
          </a:xfrm>
        </p:spPr>
        <p:txBody>
          <a:bodyPr>
            <a:no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 к курсовой работе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 </a:t>
            </a:r>
            <a:r>
              <a:rPr lang="ru-RU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«Базы данных»</a:t>
            </a:r>
            <a:br>
              <a:rPr lang="ru-RU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базы данных для видеохостинг-платформы»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3DD4FA-2ED3-4FCF-8FA4-0037CEC61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571" y="5078412"/>
            <a:ext cx="5257800" cy="1322388"/>
          </a:xfrm>
        </p:spPr>
        <p:txBody>
          <a:bodyPr>
            <a:norm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Мазанов Марат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Нажмудинович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ИУ7-65Б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Никульшина Т. 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8C85D-887B-47DD-B210-B7526DD31F23}"/>
              </a:ext>
            </a:extLst>
          </p:cNvPr>
          <p:cNvSpPr txBox="1"/>
          <p:nvPr/>
        </p:nvSpPr>
        <p:spPr>
          <a:xfrm>
            <a:off x="4692649" y="6216134"/>
            <a:ext cx="280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F66DC-86FD-445B-80FC-17AD97FC7841}"/>
              </a:ext>
            </a:extLst>
          </p:cNvPr>
          <p:cNvSpPr txBox="1"/>
          <p:nvPr/>
        </p:nvSpPr>
        <p:spPr>
          <a:xfrm>
            <a:off x="-638331" y="209928"/>
            <a:ext cx="134686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/>
              <a:t>Министерство науки и высшего образования Российской Федерации</a:t>
            </a:r>
            <a:endParaRPr lang="ru-RU" sz="1800" dirty="0"/>
          </a:p>
          <a:p>
            <a:pPr algn="ctr"/>
            <a:r>
              <a:rPr lang="ru-RU" sz="1800" b="1" dirty="0"/>
              <a:t>Федеральное государственное автономное образовательное учреждение</a:t>
            </a:r>
            <a:endParaRPr lang="ru-RU" sz="1800" dirty="0"/>
          </a:p>
          <a:p>
            <a:pPr algn="ctr"/>
            <a:r>
              <a:rPr lang="ru-RU" sz="1800" b="1" dirty="0"/>
              <a:t>высшего образования</a:t>
            </a:r>
            <a:endParaRPr lang="ru-RU" sz="1800" dirty="0"/>
          </a:p>
          <a:p>
            <a:pPr algn="ctr"/>
            <a:r>
              <a:rPr lang="ru-RU" sz="1800" b="1" dirty="0"/>
              <a:t>«Московский государственный технический университет</a:t>
            </a:r>
            <a:r>
              <a:rPr lang="ru-RU" sz="1800" dirty="0"/>
              <a:t> </a:t>
            </a:r>
            <a:r>
              <a:rPr lang="ru-RU" sz="1800" b="1" dirty="0"/>
              <a:t>имени Н.Э. Баумана</a:t>
            </a:r>
            <a:endParaRPr lang="ru-RU" sz="1800" dirty="0"/>
          </a:p>
          <a:p>
            <a:pPr algn="ctr"/>
            <a:r>
              <a:rPr lang="ru-RU" sz="1800" b="1" dirty="0"/>
              <a:t>(национальный исследовательский университет)»</a:t>
            </a:r>
            <a:endParaRPr lang="ru-RU" sz="1800" dirty="0"/>
          </a:p>
          <a:p>
            <a:pPr algn="ctr"/>
            <a:r>
              <a:rPr lang="ru-RU" sz="1800" b="1" dirty="0"/>
              <a:t>(МГТУ им. Н.Э. Баумана)</a:t>
            </a:r>
            <a:endParaRPr lang="ru-RU" sz="18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395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0266A-68BA-4F68-A634-E5993C0A2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AF3445-5F8C-4C4C-B20C-EA857288A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898"/>
            <a:ext cx="10515600" cy="47367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курсовой работы заключается в разработке базы данных для видеохостинг-платформы и приложения, осуществляющего к ней доступ.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реализации поставленной цели были выделены следующие задачи: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существующих решений и сформулировать требования к базе данных и приложению;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существующих моделей хранения данных;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базу данных и ролевую модель на уровне базы данных;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приложение, обеспечивающее доступ к базе данных;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описать тестирование разработанного программного обеспечения;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исследование зависимости времени выполнения процедуры массового уведомления подписчиков канала о новом видео от количества подписчиков при различных стратегиях индексирования.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1B5DF6-C866-4EE6-B814-6A4C66CAA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075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95E2F-8BAF-41FE-9B71-A00B6414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B7F400-06FE-44AE-9FC1-B1B78602D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0289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Предметной областью данного проекта является видеохостинг-платформа, в которой сочетаются две основные стороны работы системы: просмотр контента и его публикация.</a:t>
            </a:r>
          </a:p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сущности предметной области включают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пользователей, которые взаимодействуют с контентом;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каналы, выступающие в роли средства передачи контента от автора к зрителям;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видеозаписи платформы;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плейлисты, состоящие из нескольких видеозаписей.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6D2934-3FF8-44E8-AF89-B4EFEA05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111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FA86A5-8010-4F96-A34A-EACD9E2E4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решений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B820A908-FD8A-4903-8453-76896FB8DB9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91082201"/>
                  </p:ext>
                </p:extLst>
              </p:nvPr>
            </p:nvGraphicFramePr>
            <p:xfrm>
              <a:off x="1889760" y="1781016"/>
              <a:ext cx="8412480" cy="4119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1900097325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65835979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3073637929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83529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Критерий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VK Video</a:t>
                          </a:r>
                          <a:endParaRPr lang="ru-RU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RuTube</a:t>
                          </a:r>
                          <a:endParaRPr lang="ru-RU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Дзен Видео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333823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Формирование плейлистов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6217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Отрицательная оценка комментариев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32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Отрицательная оценка видео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81682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Сортировка видео канала по оценкам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030054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Сортировка видео канала по просмотрам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ru-RU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71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B820A908-FD8A-4903-8453-76896FB8DB9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91082201"/>
                  </p:ext>
                </p:extLst>
              </p:nvPr>
            </p:nvGraphicFramePr>
            <p:xfrm>
              <a:off x="1889760" y="1781016"/>
              <a:ext cx="8412480" cy="4119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1900097325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65835979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3073637929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383529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Критерий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VK Video</a:t>
                          </a:r>
                          <a:endParaRPr lang="ru-RU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RuTube</a:t>
                          </a:r>
                          <a:endParaRPr lang="ru-RU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Дзен Видео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3338239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Формирование плейлистов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80" t="-62857" r="-200870" b="-5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80" t="-62857" r="-100870" b="-5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580" t="-62857" r="-870" b="-50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621774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Отрицательная оценка комментариев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80" t="-114000" r="-200870" b="-25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80" t="-114000" r="-100870" b="-25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580" t="-114000" r="-870" b="-25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327909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Отрицательная оценка видео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80" t="-305714" r="-200870" b="-25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80" t="-305714" r="-100870" b="-25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580" t="-305714" r="-870" b="-25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816828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Сортировка видео канала по оценкам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80" t="-405714" r="-200870" b="-15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80" t="-405714" r="-100870" b="-15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580" t="-405714" r="-870" b="-15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300542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Сортировка видео канала по просмотрам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80" t="-354000" r="-200870" b="-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80" t="-354000" r="-100870" b="-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580" t="-354000" r="-870" b="-1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71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68F967-5623-42DA-B708-38BD7CB9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13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1B5A7-EDD6-4819-8020-CB9104CD2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307A51-63F2-4EF0-87D1-027109F8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825FE1-633F-414B-BE98-5ADBFCB53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548" y="1080172"/>
            <a:ext cx="2784614" cy="552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43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95E2F-8BAF-41FE-9B71-A00B6414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Формализация данных, подлежащих хранению в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разрабатываемой БД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4C834B-93D7-418E-9102-AE99702B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6</a:t>
            </a:fld>
            <a:endParaRPr lang="ru-RU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8671" y="1325563"/>
            <a:ext cx="9174654" cy="5539924"/>
          </a:xfrm>
        </p:spPr>
      </p:pic>
    </p:spTree>
    <p:extLst>
      <p:ext uri="{BB962C8B-B14F-4D97-AF65-F5344CB8AC3E}">
        <p14:creationId xmlns:p14="http://schemas.microsoft.com/office/powerpoint/2010/main" val="2950651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DED0F-FF21-48D0-BFEA-0D1E8F9C2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хранения данных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91F0BF05-8FAB-46B9-AF74-AE165E3E0D7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9042259"/>
                  </p:ext>
                </p:extLst>
              </p:nvPr>
            </p:nvGraphicFramePr>
            <p:xfrm>
              <a:off x="838200" y="1130752"/>
              <a:ext cx="10334626" cy="40487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482037">
                      <a:extLst>
                        <a:ext uri="{9D8B030D-6E8A-4147-A177-3AD203B41FA5}">
                          <a16:colId xmlns:a16="http://schemas.microsoft.com/office/drawing/2014/main" val="3355848695"/>
                        </a:ext>
                      </a:extLst>
                    </a:gridCol>
                    <a:gridCol w="1363826">
                      <a:extLst>
                        <a:ext uri="{9D8B030D-6E8A-4147-A177-3AD203B41FA5}">
                          <a16:colId xmlns:a16="http://schemas.microsoft.com/office/drawing/2014/main" val="54677572"/>
                        </a:ext>
                      </a:extLst>
                    </a:gridCol>
                    <a:gridCol w="1654544">
                      <a:extLst>
                        <a:ext uri="{9D8B030D-6E8A-4147-A177-3AD203B41FA5}">
                          <a16:colId xmlns:a16="http://schemas.microsoft.com/office/drawing/2014/main" val="926568491"/>
                        </a:ext>
                      </a:extLst>
                    </a:gridCol>
                    <a:gridCol w="1672928">
                      <a:extLst>
                        <a:ext uri="{9D8B030D-6E8A-4147-A177-3AD203B41FA5}">
                          <a16:colId xmlns:a16="http://schemas.microsoft.com/office/drawing/2014/main" val="444764695"/>
                        </a:ext>
                      </a:extLst>
                    </a:gridCol>
                    <a:gridCol w="17372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424021">
                      <a:extLst>
                        <a:ext uri="{9D8B030D-6E8A-4147-A177-3AD203B41FA5}">
                          <a16:colId xmlns:a16="http://schemas.microsoft.com/office/drawing/2014/main" val="14444802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Модель</a:t>
                          </a:r>
                          <a:r>
                            <a:rPr lang="ru-RU" baseline="0" dirty="0">
                              <a:solidFill>
                                <a:schemeClr val="tx1"/>
                              </a:solidFill>
                            </a:rPr>
                            <a:t> хранения данных</a:t>
                          </a:r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К1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К2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К3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К4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К5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8132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Инвертированные списки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94427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Иерархическая модель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799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>
                              <a:solidFill>
                                <a:schemeClr val="tx1"/>
                              </a:solidFill>
                            </a:rPr>
                            <a:t>Сетевая модель</a:t>
                          </a:r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Реляционная</a:t>
                          </a:r>
                          <a:r>
                            <a:rPr lang="ru-RU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модель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Модель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key-value</a:t>
                          </a:r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Объектно-ориентированная модель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Объектное хранилище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kumimoji="0" lang="ru-RU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91F0BF05-8FAB-46B9-AF74-AE165E3E0D7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9042259"/>
                  </p:ext>
                </p:extLst>
              </p:nvPr>
            </p:nvGraphicFramePr>
            <p:xfrm>
              <a:off x="838200" y="1130752"/>
              <a:ext cx="10334626" cy="40487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482037">
                      <a:extLst>
                        <a:ext uri="{9D8B030D-6E8A-4147-A177-3AD203B41FA5}">
                          <a16:colId xmlns:a16="http://schemas.microsoft.com/office/drawing/2014/main" val="3355848695"/>
                        </a:ext>
                      </a:extLst>
                    </a:gridCol>
                    <a:gridCol w="1363826">
                      <a:extLst>
                        <a:ext uri="{9D8B030D-6E8A-4147-A177-3AD203B41FA5}">
                          <a16:colId xmlns:a16="http://schemas.microsoft.com/office/drawing/2014/main" val="54677572"/>
                        </a:ext>
                      </a:extLst>
                    </a:gridCol>
                    <a:gridCol w="1654544">
                      <a:extLst>
                        <a:ext uri="{9D8B030D-6E8A-4147-A177-3AD203B41FA5}">
                          <a16:colId xmlns:a16="http://schemas.microsoft.com/office/drawing/2014/main" val="926568491"/>
                        </a:ext>
                      </a:extLst>
                    </a:gridCol>
                    <a:gridCol w="1672928">
                      <a:extLst>
                        <a:ext uri="{9D8B030D-6E8A-4147-A177-3AD203B41FA5}">
                          <a16:colId xmlns:a16="http://schemas.microsoft.com/office/drawing/2014/main" val="444764695"/>
                        </a:ext>
                      </a:extLst>
                    </a:gridCol>
                    <a:gridCol w="17372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424021">
                      <a:extLst>
                        <a:ext uri="{9D8B030D-6E8A-4147-A177-3AD203B41FA5}">
                          <a16:colId xmlns:a16="http://schemas.microsoft.com/office/drawing/2014/main" val="1444480260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Модель</a:t>
                          </a:r>
                          <a:r>
                            <a:rPr lang="ru-RU" baseline="0" dirty="0">
                              <a:solidFill>
                                <a:schemeClr val="tx1"/>
                              </a:solidFill>
                            </a:rPr>
                            <a:t> хранения данных</a:t>
                          </a:r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К1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К2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К3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К4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К5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813229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Инвертированные списки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2143" t="-104762" r="-476339" b="-4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32353" t="-104762" r="-292279" b="-4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29927" t="-104762" r="-190146" b="-4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3333" t="-104762" r="-82807" b="-4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5214" t="-104762" r="-855" b="-44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94427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Иерархическая модель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2143" t="-352459" r="-476339" b="-6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32353" t="-352459" r="-292279" b="-6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29927" t="-352459" r="-190146" b="-6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3333" t="-352459" r="-82807" b="-6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5214" t="-352459" r="-855" b="-6704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799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>
                              <a:solidFill>
                                <a:schemeClr val="tx1"/>
                              </a:solidFill>
                            </a:rPr>
                            <a:t>Сетевая модель</a:t>
                          </a:r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2143" t="-452459" r="-476339" b="-5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32353" t="-452459" r="-292279" b="-5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29927" t="-452459" r="-190146" b="-5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3333" t="-452459" r="-82807" b="-5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5214" t="-452459" r="-855" b="-5704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Реляционная</a:t>
                          </a:r>
                          <a:r>
                            <a:rPr lang="ru-RU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ru-RU" b="0" dirty="0">
                              <a:solidFill>
                                <a:schemeClr val="tx1"/>
                              </a:solidFill>
                            </a:rPr>
                            <a:t>модель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2143" t="-552459" r="-476339" b="-4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32353" t="-552459" r="-292279" b="-4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29927" t="-552459" r="-190146" b="-4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3333" t="-552459" r="-82807" b="-4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5214" t="-552459" r="-855" b="-4704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Модель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key-value</a:t>
                          </a:r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2143" t="-652459" r="-476339" b="-3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32353" t="-652459" r="-292279" b="-3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29927" t="-652459" r="-190146" b="-3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3333" t="-652459" r="-82807" b="-3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5214" t="-652459" r="-855" b="-3704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Объектно-ориентированная модель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2143" t="-306000" r="-476339" b="-5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32353" t="-306000" r="-292279" b="-5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29927" t="-306000" r="-190146" b="-5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3333" t="-306000" r="-82807" b="-5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5214" t="-306000" r="-855" b="-5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>
                              <a:solidFill>
                                <a:schemeClr val="tx1"/>
                              </a:solidFill>
                            </a:rPr>
                            <a:t>Объектное хранилище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2143" t="-998361" r="-47633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32353" t="-998361" r="-29227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29927" t="-998361" r="-19014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3333" t="-998361" r="-8280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5214" t="-998361" r="-855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A08149-237B-461D-B48C-B9A51F92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7</a:t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838200" y="5244147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К1 — поддержка связей типа 1:1, 1:N, M:N;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К2 — поддержка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К3 — хранение файлов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К4 — временная сложность запроса O(1) (для кеширования);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К5 — нормализация (отсутствие избыточности).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AEDC58F-55DE-4353-BA7C-98281F2B72A6}"/>
              </a:ext>
            </a:extLst>
          </p:cNvPr>
          <p:cNvSpPr/>
          <p:nvPr/>
        </p:nvSpPr>
        <p:spPr>
          <a:xfrm>
            <a:off x="714375" y="3086100"/>
            <a:ext cx="10639425" cy="50482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6ECC1F6-421F-4BF2-9057-0E05511E25A1}"/>
              </a:ext>
            </a:extLst>
          </p:cNvPr>
          <p:cNvSpPr/>
          <p:nvPr/>
        </p:nvSpPr>
        <p:spPr>
          <a:xfrm>
            <a:off x="714375" y="4739322"/>
            <a:ext cx="10639425" cy="50482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846315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25073B-B76C-4AEF-A00F-26570DEF1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базы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F1DDB1-8104-4832-A1FF-4374B2BA4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8</a:t>
            </a:fld>
            <a:endParaRPr lang="ru-RU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8582" y="1125147"/>
            <a:ext cx="5354834" cy="5294442"/>
          </a:xfrm>
        </p:spPr>
      </p:pic>
    </p:spTree>
    <p:extLst>
      <p:ext uri="{BB962C8B-B14F-4D97-AF65-F5344CB8AC3E}">
        <p14:creationId xmlns:p14="http://schemas.microsoft.com/office/powerpoint/2010/main" val="850537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972C2-05D6-42F8-B83B-14EE25BBD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работы хранимой процедуры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52A460-3EA1-44EB-8517-48AE581B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9</a:t>
            </a:fld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44885" y="1228570"/>
            <a:ext cx="4702229" cy="5629430"/>
          </a:xfrm>
        </p:spPr>
      </p:pic>
    </p:spTree>
    <p:extLst>
      <p:ext uri="{BB962C8B-B14F-4D97-AF65-F5344CB8AC3E}">
        <p14:creationId xmlns:p14="http://schemas.microsoft.com/office/powerpoint/2010/main" val="791968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97F99-B8F6-4605-81EF-4F9F0DA6C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3A3C9-3070-46F9-9468-FBECDDA0D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Объектное хранилище: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/S3.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CDBB03-C22B-435D-B48E-AA00694B1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794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BBDDF-4FB8-440D-B98A-126CDE834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8563B41-E3FB-413F-9DA5-0B2B1E2A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11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9845A17-C9E4-4241-B28C-72E8D4AB4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278" y="1091554"/>
            <a:ext cx="6673443" cy="576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26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A33DA-3635-4FA2-A48A-385FACF55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 работы приложения при загрузке видео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952C03-9BDC-4640-A55E-A270545F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74080D-5A08-4949-9EB3-2C5CBEFFD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1394621"/>
            <a:ext cx="7810500" cy="514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361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BBDDF-4FB8-440D-B98A-126CDE834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Классы эквивалентности для хранимой процедуры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уведомления подписчиков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8563B41-E3FB-413F-9DA5-0B2B1E2A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13</a:t>
            </a:fld>
            <a:endParaRPr lang="ru-RU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4BC09989-BD27-4446-87B3-165528763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163967"/>
              </p:ext>
            </p:extLst>
          </p:nvPr>
        </p:nvGraphicFramePr>
        <p:xfrm>
          <a:off x="1336431" y="1714500"/>
          <a:ext cx="8955453" cy="444314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74533">
                  <a:extLst>
                    <a:ext uri="{9D8B030D-6E8A-4147-A177-3AD203B41FA5}">
                      <a16:colId xmlns:a16="http://schemas.microsoft.com/office/drawing/2014/main" val="2180644957"/>
                    </a:ext>
                  </a:extLst>
                </a:gridCol>
                <a:gridCol w="5173066">
                  <a:extLst>
                    <a:ext uri="{9D8B030D-6E8A-4147-A177-3AD203B41FA5}">
                      <a16:colId xmlns:a16="http://schemas.microsoft.com/office/drawing/2014/main" val="4223995987"/>
                    </a:ext>
                  </a:extLst>
                </a:gridCol>
                <a:gridCol w="2407854">
                  <a:extLst>
                    <a:ext uri="{9D8B030D-6E8A-4147-A177-3AD203B41FA5}">
                      <a16:colId xmlns:a16="http://schemas.microsoft.com/office/drawing/2014/main" val="1242912642"/>
                    </a:ext>
                  </a:extLst>
                </a:gridCol>
              </a:tblGrid>
              <a:tr h="760987">
                <a:tc>
                  <a:txBody>
                    <a:bodyPr/>
                    <a:lstStyle/>
                    <a:p>
                      <a:r>
                        <a:rPr lang="ru-RU" dirty="0"/>
                        <a:t>Параметр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Класс эквивалентности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Ожидаемый результат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095680"/>
                  </a:ext>
                </a:extLst>
              </a:tr>
              <a:tr h="680951">
                <a:tc>
                  <a:txBody>
                    <a:bodyPr/>
                    <a:lstStyle/>
                    <a:p>
                      <a:r>
                        <a:rPr lang="en-US" dirty="0" err="1"/>
                        <a:t>channel_id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Канал существует, есть подписчики с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включёнными уведомлениями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Счётчики новых видео увеличены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213100"/>
                  </a:ext>
                </a:extLst>
              </a:tr>
              <a:tr h="4408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channel_id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Канал существует, подписчиков 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Изменений 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305285"/>
                  </a:ext>
                </a:extLst>
              </a:tr>
              <a:tr h="4408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channel_id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Канал существует, подписчики есть, но уведомления отключены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Изменений 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375143"/>
                  </a:ext>
                </a:extLst>
              </a:tr>
              <a:tr h="4408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channel_id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Канал не существует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Ошибка/отсутствие изменений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96583"/>
                  </a:ext>
                </a:extLst>
              </a:tr>
              <a:tr h="440889">
                <a:tc>
                  <a:txBody>
                    <a:bodyPr/>
                    <a:lstStyle/>
                    <a:p>
                      <a:r>
                        <a:rPr lang="en-US" dirty="0" err="1"/>
                        <a:t>video_id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Видео существует и принадлежит каналу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Счётчики новых видео увеличены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813708"/>
                  </a:ext>
                </a:extLst>
              </a:tr>
              <a:tr h="440889">
                <a:tc>
                  <a:txBody>
                    <a:bodyPr/>
                    <a:lstStyle/>
                    <a:p>
                      <a:r>
                        <a:rPr lang="en-US" dirty="0" err="1"/>
                        <a:t>video_id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Видео не существует или не принадлежит каналу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Ошибка/отсутствие изменений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204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42A7F0-7929-4C79-96E6-8F4E3D341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зависимости времени выполнения процедуры при различных стратегиях индексирования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806980B-2D7F-443F-B0A1-550382F7B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14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43EE98-CB6F-4260-949E-335C6BFA0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7694" y="1536703"/>
            <a:ext cx="9476609" cy="472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04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42A7F0-7929-4C79-96E6-8F4E3D341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зависимости времени выполнения процедуры при различных стратегиях индексирования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806980B-2D7F-443F-B0A1-550382F7B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15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43EE98-CB6F-4260-949E-335C6BFA0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510" y="1536703"/>
            <a:ext cx="9566978" cy="472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67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42A7F0-7929-4C79-96E6-8F4E3D341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зависимости времени выполнения процедуры при различных стратегиях индексирования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806980B-2D7F-443F-B0A1-550382F7B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16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43EE98-CB6F-4260-949E-335C6BFA0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510" y="1521241"/>
            <a:ext cx="9566978" cy="475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281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42A7F0-7929-4C79-96E6-8F4E3D341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зависимости времени выполнения процедуры при различных стратегиях индексирования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806980B-2D7F-443F-B0A1-550382F7B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17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43EE98-CB6F-4260-949E-335C6BFA0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62" y="1521241"/>
            <a:ext cx="9591675" cy="475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73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A95BF8-485D-470B-BCEF-1BDE6D15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81DA1A-714E-44E6-8622-EE7C9AB06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406"/>
            <a:ext cx="10515600" cy="5490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курсовой работы достигнута: разработана база данных для видеохостинг-платформы и приложение, обеспечивающее доступ к ней.</a:t>
            </a:r>
          </a:p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были выполнены все поставленные задачи: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области;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существующих решений и сформулировать требования к базе данных и приложению;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существующих моделей хранения данных;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базу данных и ролевую модель на уровне базы данных;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приложение, обеспечивающее доступ к базе данных;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описать тестирование разработанного программного обеспечения;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исследование зависимости времени выполнения процедуры массового уведомления подписчиков канала о новом видео от количества подписчиков при различных стратегиях индексирования.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C7D094-5820-401B-94E9-AC001BBE9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02C2A-A399-46CE-AD20-A4DA069090B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2499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672</Words>
  <Application>Microsoft Office PowerPoint</Application>
  <PresentationFormat>Широкоэкранный</PresentationFormat>
  <Paragraphs>171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Times New Roman</vt:lpstr>
      <vt:lpstr>Тема Office</vt:lpstr>
      <vt:lpstr>Презентация к курсовой работе по дисциплине «Базы данных» на тему: «Разработка базы данных для видеохостинг-платформы»</vt:lpstr>
      <vt:lpstr>Введение</vt:lpstr>
      <vt:lpstr>Анализ предметной области</vt:lpstr>
      <vt:lpstr>Анализ существующих решений</vt:lpstr>
      <vt:lpstr>Диаграмма вариантов использования</vt:lpstr>
      <vt:lpstr>Формализация данных, подлежащих хранению в разрабатываемой БД</vt:lpstr>
      <vt:lpstr>Модели хранения данных</vt:lpstr>
      <vt:lpstr>Диаграмма базы данных</vt:lpstr>
      <vt:lpstr>Алгоритм работы хранимой процедуры</vt:lpstr>
      <vt:lpstr>Средства реализации</vt:lpstr>
      <vt:lpstr>Диаграмма ПО</vt:lpstr>
      <vt:lpstr>Диаграмма последовательности работы приложения при загрузке видео</vt:lpstr>
      <vt:lpstr>Классы эквивалентности для хранимой процедуры уведомления подписчиков</vt:lpstr>
      <vt:lpstr>Исследование зависимости времени выполнения процедуры при различных стратегиях индексирования</vt:lpstr>
      <vt:lpstr>Исследование зависимости времени выполнения процедуры при различных стратегиях индексирования</vt:lpstr>
      <vt:lpstr>Исследование зависимости времени выполнения процедуры при различных стратегиях индексирования</vt:lpstr>
      <vt:lpstr>Исследование зависимости времени выполнения процедуры при различных стратегиях индексирования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Системы управления климатом для террариумов и аквариумов</dc:title>
  <dc:creator>Марат Мазанов</dc:creator>
  <cp:lastModifiedBy>Марат Мазанов</cp:lastModifiedBy>
  <cp:revision>94</cp:revision>
  <dcterms:created xsi:type="dcterms:W3CDTF">2025-12-05T19:58:56Z</dcterms:created>
  <dcterms:modified xsi:type="dcterms:W3CDTF">2026-05-29T19:29:39Z</dcterms:modified>
</cp:coreProperties>
</file>